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9" r:id="rId3"/>
    <p:sldId id="257" r:id="rId4"/>
    <p:sldId id="274" r:id="rId5"/>
    <p:sldId id="273" r:id="rId6"/>
    <p:sldId id="276" r:id="rId7"/>
    <p:sldId id="272" r:id="rId8"/>
    <p:sldId id="279" r:id="rId9"/>
    <p:sldId id="277" r:id="rId10"/>
    <p:sldId id="268" r:id="rId11"/>
    <p:sldId id="280" r:id="rId12"/>
    <p:sldId id="265" r:id="rId13"/>
    <p:sldId id="278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arinti6/capstone-projec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/>
              <a:t>Student Dropout Analysis for School Education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164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800" dirty="0"/>
              <a:t>Dr. Jagedevi Bakka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886409593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Review-5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B.tech(CSE)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</a:t>
            </a:r>
            <a:r>
              <a:rPr lang="en-IN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Mr.Muthuraju V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834E0F-751E-2838-A762-7F018A6A4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888093"/>
              </p:ext>
            </p:extLst>
          </p:nvPr>
        </p:nvGraphicFramePr>
        <p:xfrm>
          <a:off x="203198" y="3262890"/>
          <a:ext cx="5040000" cy="1259840"/>
        </p:xfrm>
        <a:graphic>
          <a:graphicData uri="http://schemas.openxmlformats.org/drawingml/2006/table">
            <a:tbl>
              <a:tblPr firstRow="1" bandRow="1"/>
              <a:tblGrid>
                <a:gridCol w="2520000">
                  <a:extLst>
                    <a:ext uri="{9D8B030D-6E8A-4147-A177-3AD203B41FA5}">
                      <a16:colId xmlns:a16="http://schemas.microsoft.com/office/drawing/2014/main" val="3950868163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972646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20221CSE0162</a:t>
                      </a:r>
                      <a:endParaRPr lang="en-IN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Devarinti Sai Kumar</a:t>
                      </a:r>
                      <a:endParaRPr lang="en-IN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567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20221CSE0182</a:t>
                      </a:r>
                      <a:endParaRPr lang="en-IN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Nallagorla Roshan Venkata</a:t>
                      </a:r>
                    </a:p>
                    <a:p>
                      <a:r>
                        <a:rPr lang="en-US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Siva</a:t>
                      </a:r>
                      <a:endParaRPr lang="en-IN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432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20221CSE0172</a:t>
                      </a:r>
                      <a:endParaRPr lang="en-IN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Chitiki Sai Teja Reddy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1395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Government of karnataka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Category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(Hardware / Software / Both) 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 system to analyze school student dropout rates across school, area, gender, caste, and age/standard categories, integrating socio-economic data to enable targeted interventions and support government policies for reducing dropouts.</a:t>
            </a:r>
            <a:endParaRPr lang="en-US" sz="2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60439" y="993058"/>
            <a:ext cx="11287432" cy="548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b="1" dirty="0"/>
              <a:t>Problem Statement</a:t>
            </a:r>
          </a:p>
          <a:p>
            <a:endParaRPr lang="en-US" sz="2000" b="1" dirty="0"/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the Right to Education Act ensuring free and compulsory education, school dropout rates in many regions remain high due to factors such as poverty, socio-economic challenges, gender inequality, and lack of infrastructure.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a centralized, data-driven system for analyzing dropouts across categories like school, area, gender, caste, and age/standard limits the government’s ability to take targeted action.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software-based analytical solution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process and visualize dropout data to help policymakers design focused interventions and improve retention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 (continuation)..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21109" y="1002890"/>
            <a:ext cx="11159613" cy="502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76200" indent="0" algn="just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consolidate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student enrollment and dropout data from multiple sources in a centralized database.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dropout trends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based on school-wise, area-wise, gender-wise, caste-wise, and age/standard-wise classifications.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using interactive charts, graphs, and dashboards for easy interpretation by education authorities.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factors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contributing to high dropout rates using statistical and machine learning models.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insights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to support government policies aimed at reducing dropouts and improving educational access.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SDG Goals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No Poverty (SDG 1), Quality Education (SDG 4), and Gender Equality (SDG 5).</a:t>
            </a: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Technology Stack Components: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latinLnBrk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Primary programming language for full-stack development</a:t>
            </a:r>
          </a:p>
          <a:p>
            <a:pPr algn="just" latinLnBrk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Interactive web application framework for dashboard creation</a:t>
            </a:r>
          </a:p>
          <a:p>
            <a:pPr algn="just" latinLnBrk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Data manipulation and CSV processing library</a:t>
            </a:r>
          </a:p>
          <a:p>
            <a:pPr algn="just" latinLnBrk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Machine learning algorithms and model evaluation tools</a:t>
            </a:r>
          </a:p>
          <a:p>
            <a:pPr algn="just" latinLnBrk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Static plotting library for chart generation</a:t>
            </a:r>
          </a:p>
          <a:p>
            <a:pPr algn="just" latinLnBrk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LogisticRegression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Linear classification algorithm for baseline predictions</a:t>
            </a:r>
          </a:p>
          <a:p>
            <a:pPr algn="just" latinLnBrk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DecisionTreeClassifier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Tree-based algorithm for interpretable classification</a:t>
            </a:r>
          </a:p>
          <a:p>
            <a:pPr algn="just" latinLnBrk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RandomForestClassifier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Ensemble method for robust prediction accuracy</a:t>
            </a:r>
          </a:p>
          <a:p>
            <a:pPr algn="just" latinLnBrk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CSS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Gradient styling for responsive dashboard design</a:t>
            </a:r>
          </a:p>
          <a:p>
            <a:pPr algn="just" latinLnBrk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Format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Structured data storage for 650 student records</a:t>
            </a:r>
          </a:p>
          <a:p>
            <a:pPr algn="just" latinLnBrk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r3.py Module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Custom visualization functions for seven chart types</a:t>
            </a:r>
          </a:p>
          <a:p>
            <a:pPr algn="just" latinLnBrk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Server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Streamlit development environment with localhost deployment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756AD-9F1A-0614-10A5-FB9C4595D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911FA-46DE-7304-C8A1-CB5ACB2D2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1032" y="1084008"/>
            <a:ext cx="10749935" cy="3950108"/>
          </a:xfrm>
        </p:spPr>
        <p:txBody>
          <a:bodyPr>
            <a:normAutofit fontScale="92500" lnSpcReduction="20000"/>
          </a:bodyPr>
          <a:lstStyle/>
          <a:p>
            <a:pPr latinLnBrk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Problem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lack predictive tools to identify at-risk students, resulting in high dropout rates and ineffective resource allocation.</a:t>
            </a:r>
          </a:p>
          <a:p>
            <a:pPr marL="7620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 : </a:t>
            </a:r>
          </a:p>
          <a:p>
            <a:pPr latinLnBrk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32.1% dropout rate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indicating significant student retention issues</a:t>
            </a:r>
          </a:p>
          <a:p>
            <a:pPr latinLnBrk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interventions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occurring after students have already disengaged</a:t>
            </a:r>
          </a:p>
          <a:p>
            <a:pPr latinLnBrk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data insights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preventing early identification of risk factors</a:t>
            </a:r>
          </a:p>
          <a:p>
            <a:pPr latinLnBrk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causing delays in critical decision-making processes</a:t>
            </a:r>
          </a:p>
          <a:p>
            <a:pPr marL="7620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Requirements :</a:t>
            </a:r>
          </a:p>
          <a:p>
            <a:pPr latinLnBrk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forecast dropout probability with 85%+ accuracy</a:t>
            </a:r>
          </a:p>
          <a:p>
            <a:pPr latinLnBrk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real-time data exploration and visualization</a:t>
            </a:r>
          </a:p>
          <a:p>
            <a:pPr latinLnBrk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Multi-factor analysis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covering demographic, academic, and socioeconomic variables</a:t>
            </a:r>
          </a:p>
          <a:p>
            <a:pPr latinLnBrk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accessible to educational administrators and counselors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latinLnBrk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/>
          </a:p>
          <a:p>
            <a:pPr marL="76200" indent="0" latinLnBrk="0">
              <a:buNone/>
            </a:pPr>
            <a:endParaRPr lang="en-US" sz="2000" dirty="0"/>
          </a:p>
          <a:p>
            <a:pPr marL="76200" indent="0"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23901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latinLnBrk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CSV files with 4,000+ student records</a:t>
            </a:r>
          </a:p>
          <a:p>
            <a:pPr marL="76200" indent="0" latinLnBrk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boolean to numeric format for ML compatibility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latinLnBrk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Logistic Regression, Decision Tree, Random Forest algorithms</a:t>
            </a:r>
          </a:p>
          <a:p>
            <a:pPr marL="76200" indent="0" latinLnBrk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85%+ prediction accuracy using AUC-ROC scoring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latinLnBrk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statistical cards displaying key metrics</a:t>
            </a:r>
          </a:p>
          <a:p>
            <a:pPr marL="76200" indent="0" latinLnBrk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 chart types: bar, pie, histogram, donut, line plots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  <a:p>
            <a:pPr marL="76200" indent="0" latinLnBrk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dashboard with browser accessibility</a:t>
            </a:r>
          </a:p>
          <a:p>
            <a:pPr marL="76200" indent="0" latinLnBrk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tables with interactive features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2D06B-1FC2-18A8-6811-468A5CF5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CAF46-B9F5-D878-F750-18ADD3280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561" y="1143001"/>
            <a:ext cx="9291484" cy="4953000"/>
          </a:xfrm>
        </p:spPr>
        <p:txBody>
          <a:bodyPr>
            <a:normAutofit/>
          </a:bodyPr>
          <a:lstStyle/>
          <a:p>
            <a:pPr marL="7620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predicting student dropout:</a:t>
            </a:r>
          </a:p>
          <a:p>
            <a:pPr marL="7620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Linear classification for baseline prediction (82.34% accuracy).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Classifier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Rule-based interpretable classification (78.91% accuracy)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Ensemble method achieving best performance (85.67% accuracy)</a:t>
            </a:r>
          </a:p>
          <a:p>
            <a:pPr algn="just" latinLnBrk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AUC-ROC scoring with 75/25 train-test split, ROC curve comparison for performance analysis</a:t>
            </a:r>
          </a:p>
          <a:p>
            <a:pPr algn="just"/>
            <a:endParaRPr lang="en-IN" b="1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82852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5287D-3453-8227-CB5C-7EBFB3772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8F1F0-C1DC-8A2E-F2D0-6196EE027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project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software-only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hardware needs are basic: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Client-side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Any computer or mobile device with internet browser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Server-side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server/PC with:</a:t>
            </a:r>
          </a:p>
          <a:p>
            <a:pPr lvl="2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i3 or higher</a:t>
            </a:r>
          </a:p>
          <a:p>
            <a:pPr lvl="2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8GB+</a:t>
            </a:r>
          </a:p>
          <a:p>
            <a:pPr lvl="2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500GB (HDD/SSD)</a:t>
            </a:r>
          </a:p>
          <a:p>
            <a:pPr lvl="2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Mostly Software-Based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physical sensors, IoT devices, or microcontrollers needed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data can be collected from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records, government databases, or manual entry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processing, analytics, and visualization are handled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digitally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593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>
            <a:hlinkClick r:id="rId3"/>
          </p:cNvPr>
          <p:cNvSpPr txBox="1">
            <a:spLocks/>
          </p:cNvSpPr>
          <p:nvPr/>
        </p:nvSpPr>
        <p:spPr>
          <a:xfrm>
            <a:off x="1117600" y="914538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https://github.com/devarinti6/capstone-project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WEEK-8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222C17-E2A3-6280-7865-C46EEE3FAE65}"/>
              </a:ext>
            </a:extLst>
          </p:cNvPr>
          <p:cNvGraphicFramePr>
            <a:graphicFrameLocks noGrp="1"/>
          </p:cNvGraphicFramePr>
          <p:nvPr/>
        </p:nvGraphicFramePr>
        <p:xfrm>
          <a:off x="1232311" y="1615453"/>
          <a:ext cx="8904744" cy="4345858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225754">
                  <a:extLst>
                    <a:ext uri="{9D8B030D-6E8A-4147-A177-3AD203B41FA5}">
                      <a16:colId xmlns:a16="http://schemas.microsoft.com/office/drawing/2014/main" val="910331931"/>
                    </a:ext>
                  </a:extLst>
                </a:gridCol>
                <a:gridCol w="753078">
                  <a:extLst>
                    <a:ext uri="{9D8B030D-6E8A-4147-A177-3AD203B41FA5}">
                      <a16:colId xmlns:a16="http://schemas.microsoft.com/office/drawing/2014/main" val="883094763"/>
                    </a:ext>
                  </a:extLst>
                </a:gridCol>
                <a:gridCol w="989416">
                  <a:extLst>
                    <a:ext uri="{9D8B030D-6E8A-4147-A177-3AD203B41FA5}">
                      <a16:colId xmlns:a16="http://schemas.microsoft.com/office/drawing/2014/main" val="1135233679"/>
                    </a:ext>
                  </a:extLst>
                </a:gridCol>
                <a:gridCol w="989416">
                  <a:extLst>
                    <a:ext uri="{9D8B030D-6E8A-4147-A177-3AD203B41FA5}">
                      <a16:colId xmlns:a16="http://schemas.microsoft.com/office/drawing/2014/main" val="1564290111"/>
                    </a:ext>
                  </a:extLst>
                </a:gridCol>
                <a:gridCol w="989416">
                  <a:extLst>
                    <a:ext uri="{9D8B030D-6E8A-4147-A177-3AD203B41FA5}">
                      <a16:colId xmlns:a16="http://schemas.microsoft.com/office/drawing/2014/main" val="2882430554"/>
                    </a:ext>
                  </a:extLst>
                </a:gridCol>
                <a:gridCol w="989416">
                  <a:extLst>
                    <a:ext uri="{9D8B030D-6E8A-4147-A177-3AD203B41FA5}">
                      <a16:colId xmlns:a16="http://schemas.microsoft.com/office/drawing/2014/main" val="1334644594"/>
                    </a:ext>
                  </a:extLst>
                </a:gridCol>
                <a:gridCol w="989416">
                  <a:extLst>
                    <a:ext uri="{9D8B030D-6E8A-4147-A177-3AD203B41FA5}">
                      <a16:colId xmlns:a16="http://schemas.microsoft.com/office/drawing/2014/main" val="3682181519"/>
                    </a:ext>
                  </a:extLst>
                </a:gridCol>
                <a:gridCol w="989416">
                  <a:extLst>
                    <a:ext uri="{9D8B030D-6E8A-4147-A177-3AD203B41FA5}">
                      <a16:colId xmlns:a16="http://schemas.microsoft.com/office/drawing/2014/main" val="1155573946"/>
                    </a:ext>
                  </a:extLst>
                </a:gridCol>
                <a:gridCol w="989416">
                  <a:extLst>
                    <a:ext uri="{9D8B030D-6E8A-4147-A177-3AD203B41FA5}">
                      <a16:colId xmlns:a16="http://schemas.microsoft.com/office/drawing/2014/main" val="603179660"/>
                    </a:ext>
                  </a:extLst>
                </a:gridCol>
              </a:tblGrid>
              <a:tr h="2820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Phase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Week 1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Week 2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Week 3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Week 4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Week 5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Week 6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Week 7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Week 8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2867067"/>
                  </a:ext>
                </a:extLst>
              </a:tr>
              <a:tr h="4422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Data Collection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✔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✔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2825193"/>
                  </a:ext>
                </a:extLst>
              </a:tr>
              <a:tr h="8772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Data Cleaning &amp; Standardization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✔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✔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06537238"/>
                  </a:ext>
                </a:extLst>
              </a:tr>
              <a:tr h="6597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Categorization &amp; Analysis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✔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✔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90262525"/>
                  </a:ext>
                </a:extLst>
              </a:tr>
              <a:tr h="8772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Visualization &amp; Dashboard Dev.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✔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✔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96280325"/>
                  </a:ext>
                </a:extLst>
              </a:tr>
              <a:tr h="5475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Testing &amp; Refinement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✔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✔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67950713"/>
                  </a:ext>
                </a:extLst>
              </a:tr>
              <a:tr h="6597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Final Reporting &amp; Review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✔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✔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54220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6123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Tinto, V. (1993).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Leaving College: Rethinking the Causes and Cures of Student Attrition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(2nd ed.). University of Chicago Press.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Astin, A. W. (1984). Student involvement: A developmental theory for higher education.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College Student Personnel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25(4), 297–308.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Bean, J. P. (1980). Dropouts and turnover: The synthesis and test of a causal model of student attrition.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in Higher Education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12(2), 155–187.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Cabrera, A. F., Nora, A., &amp; Castañeda, M. B. (1993). College persistence: Structural equations modeling test of an integrated model of student retention.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Higher Education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64(2), 123–139.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Breiman, L. (2001). Random forests.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45(1), 5–32.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Pedregosa, F., et al. (2011). Scikit-learn: Machine learning in Python.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Machine Learning Research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12, 2825–2830.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Hunter, J. D. (2007). Matplotlib: A 2D graphics environment.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in Science &amp; Engineering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9(3), 90–95.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 algn="just">
              <a:spcBef>
                <a:spcPts val="0"/>
              </a:spcBef>
            </a:pP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8C010-8D2D-ADC6-3AAE-B58F2B60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BE477-2F9E-9FBA-CE7B-DEA1489B4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75852"/>
            <a:ext cx="10668000" cy="5440361"/>
          </a:xfrm>
        </p:spPr>
        <p:txBody>
          <a:bodyPr>
            <a:noAutofit/>
          </a:bodyPr>
          <a:lstStyle/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Moreland, J., et al. (2018). Streamlit: A faster way to build data apps.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Inc.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McKinney, W. (2010). Data structures for statistical computing in Python.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9th Python in Science Conference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51–56.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Chollet, F. (2015). Keras: The Python deep learning library.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VanderPlas, J. (2016).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Data Science Handbook: Essential Tools for Working with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O’Reilly Media.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Wickham, H. (2016).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ggplot2: Elegant Graphics for Data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Springer.</a:t>
            </a:r>
          </a:p>
          <a:p>
            <a:pPr marL="438150" indent="-285750" algn="just">
              <a:spcBef>
                <a:spcPts val="0"/>
              </a:spcBef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919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1887</TotalTime>
  <Words>1238</Words>
  <Application>Microsoft Office PowerPoint</Application>
  <PresentationFormat>Widescreen</PresentationFormat>
  <Paragraphs>156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</vt:lpstr>
      <vt:lpstr>Times New Roman</vt:lpstr>
      <vt:lpstr>Verdana</vt:lpstr>
      <vt:lpstr>Bioinformatics</vt:lpstr>
      <vt:lpstr>Student Dropout Analysis for School Education</vt:lpstr>
      <vt:lpstr>Problem Statement Number: </vt:lpstr>
      <vt:lpstr>Content</vt:lpstr>
      <vt:lpstr>Content (continuation)..</vt:lpstr>
      <vt:lpstr>Analysis of Problem Statement</vt:lpstr>
      <vt:lpstr>Analysis of Problem Statement</vt:lpstr>
      <vt:lpstr>Analysis of Problem Statement (contd...)</vt:lpstr>
      <vt:lpstr>Analysis of Problem Statement (contd...)</vt:lpstr>
      <vt:lpstr>Analysis of Problem Statement (contd...)</vt:lpstr>
      <vt:lpstr>Github Link</vt:lpstr>
      <vt:lpstr>Timeline of the Project (Gantt Chart)</vt:lpstr>
      <vt:lpstr>References (IEEE Paper format)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Roshan Venkata Siva</cp:lastModifiedBy>
  <cp:revision>68</cp:revision>
  <dcterms:modified xsi:type="dcterms:W3CDTF">2025-12-02T12:46:06Z</dcterms:modified>
</cp:coreProperties>
</file>